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59" r:id="rId6"/>
    <p:sldId id="262" r:id="rId7"/>
    <p:sldId id="263" r:id="rId8"/>
    <p:sldId id="264" r:id="rId9"/>
    <p:sldId id="260" r:id="rId10"/>
    <p:sldId id="261" r:id="rId11"/>
  </p:sldIdLst>
  <p:sldSz cx="9144000" cy="5143500"/>
  <p:notesSz cx="6858000" cy="9144000"/>
  <p:embeddedFontLst>
    <p:embeddedFont>
      <p:font typeface="Manrope SemiBold"/>
      <p:regular r:id="rId15"/>
    </p:embeddedFont>
    <p:embeddedFont>
      <p:font typeface="Manrope"/>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1: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 name="Shape 65"/>
        <p:cNvGrpSpPr/>
        <p:nvPr/>
      </p:nvGrpSpPr>
      <p:grpSpPr>
        <a:xfrm>
          <a:off x="0" y="0"/>
          <a:ext cx="0" cy="0"/>
          <a:chOff x="0" y="0"/>
          <a:chExt cx="0" cy="0"/>
        </a:xfrm>
      </p:grpSpPr>
      <p:sp>
        <p:nvSpPr>
          <p:cNvPr id="66" name="Google Shape;66;p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75"/>
        <p:cNvGrpSpPr/>
        <p:nvPr/>
      </p:nvGrpSpPr>
      <p:grpSpPr>
        <a:xfrm>
          <a:off x="0" y="0"/>
          <a:ext cx="0" cy="0"/>
          <a:chOff x="0" y="0"/>
          <a:chExt cx="0" cy="0"/>
        </a:xfrm>
      </p:grpSpPr>
      <p:sp>
        <p:nvSpPr>
          <p:cNvPr id="76" name="Google Shape;76;p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81"/>
        <p:cNvGrpSpPr/>
        <p:nvPr/>
      </p:nvGrpSpPr>
      <p:grpSpPr>
        <a:xfrm>
          <a:off x="0" y="0"/>
          <a:ext cx="0" cy="0"/>
          <a:chOff x="0" y="0"/>
          <a:chExt cx="0" cy="0"/>
        </a:xfrm>
      </p:grpSpPr>
      <p:sp>
        <p:nvSpPr>
          <p:cNvPr id="82" name="Google Shape;82;p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9" name="Shape 9"/>
        <p:cNvGrpSpPr/>
        <p:nvPr/>
      </p:nvGrpSpPr>
      <p:grpSpPr>
        <a:xfrm>
          <a:off x="0" y="0"/>
          <a:ext cx="0" cy="0"/>
          <a:chOff x="0" y="0"/>
          <a:chExt cx="0" cy="0"/>
        </a:xfrm>
      </p:grpSpPr>
      <p:sp>
        <p:nvSpPr>
          <p:cNvPr id="10" name="Google Shape;10;p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21" name="Google Shape;21;p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5" name="Google Shape;25;p6"/>
          <p:cNvSpPr txBox="1"/>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6" name="Google Shape;26;p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33" name="Google Shape;33;p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90204"/>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9" name="Google Shape;39;p10"/>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42" name="Google Shape;42;p1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3" name="Shape 43"/>
        <p:cNvGrpSpPr/>
        <p:nvPr/>
      </p:nvGrpSpPr>
      <p:grpSpPr>
        <a:xfrm>
          <a:off x="0" y="0"/>
          <a:ext cx="0" cy="0"/>
          <a:chOff x="0" y="0"/>
          <a:chExt cx="0" cy="0"/>
        </a:xfrm>
      </p:grpSpPr>
      <p:sp>
        <p:nvSpPr>
          <p:cNvPr id="44" name="Google Shape;44;p11"/>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5" name="Google Shape;45;p1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6" name="Shape 46"/>
        <p:cNvGrpSpPr/>
        <p:nvPr/>
      </p:nvGrpSpPr>
      <p:grpSpPr>
        <a:xfrm>
          <a:off x="0" y="0"/>
          <a:ext cx="0" cy="0"/>
          <a:chOff x="0" y="0"/>
          <a:chExt cx="0" cy="0"/>
        </a:xfrm>
      </p:grpSpPr>
      <p:sp>
        <p:nvSpPr>
          <p:cNvPr id="47" name="Google Shape;47;p12"/>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9" name="Google Shape;49;p1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chemeClr val="dk1"/>
              </a:buClr>
              <a:buSzPts val="2800"/>
              <a:buFont typeface="Arial" panose="020B0604020202090204"/>
              <a:buNone/>
              <a:defRPr sz="28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90204"/>
              <a:buChar char="●"/>
              <a:defRPr sz="18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914400" marR="0" lvl="1"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1371600" marR="0" lvl="2"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115000"/>
              </a:lnSpc>
              <a:spcBef>
                <a:spcPts val="0"/>
              </a:spcBef>
              <a:spcAft>
                <a:spcPts val="0"/>
              </a:spcAft>
              <a:buClr>
                <a:schemeClr val="dk2"/>
              </a:buClr>
              <a:buSzPts val="1400"/>
              <a:buFont typeface="Arial" panose="020B0604020202090204"/>
              <a:buChar char="■"/>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1pPr>
            <a:lvl2pPr marL="0" marR="0" lvl="1"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L="0" marR="0" lvl="2"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L="0" marR="0" lvl="3"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L="0" marR="0" lvl="4"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L="0" marR="0" lvl="5"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L="0" marR="0" lvl="6"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L="0" marR="0" lvl="7"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L="0" marR="0" lvl="8" indent="0" algn="r" rtl="0">
              <a:lnSpc>
                <a:spcPct val="100000"/>
              </a:lnSpc>
              <a:spcBef>
                <a:spcPts val="0"/>
              </a:spcBef>
              <a:spcAft>
                <a:spcPts val="0"/>
              </a:spcAft>
              <a:buClr>
                <a:srgbClr val="000000"/>
              </a:buClr>
              <a:buSzPts val="1000"/>
              <a:buFont typeface="Arial" panose="020B0604020202090204"/>
              <a:buNone/>
              <a:defRPr sz="10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pic>
        <p:nvPicPr>
          <p:cNvPr id="54" name="Google Shape;54;p13" title="Framexexexe 232.png"/>
          <p:cNvPicPr preferRelativeResize="0"/>
          <p:nvPr/>
        </p:nvPicPr>
        <p:blipFill rotWithShape="1">
          <a:blip r:embed="rId1"/>
          <a:srcRect/>
          <a:stretch>
            <a:fillRect/>
          </a:stretch>
        </p:blipFill>
        <p:spPr>
          <a:xfrm>
            <a:off x="-12" y="0"/>
            <a:ext cx="9144018" cy="5143501"/>
          </a:xfrm>
          <a:prstGeom prst="rect">
            <a:avLst/>
          </a:prstGeom>
          <a:noFill/>
          <a:ln>
            <a:noFill/>
          </a:ln>
        </p:spPr>
      </p:pic>
      <p:sp>
        <p:nvSpPr>
          <p:cNvPr id="55" name="Google Shape;55;p13"/>
          <p:cNvSpPr txBox="1"/>
          <p:nvPr/>
        </p:nvSpPr>
        <p:spPr>
          <a:xfrm>
            <a:off x="402808" y="3192600"/>
            <a:ext cx="7152900" cy="372600"/>
          </a:xfrm>
          <a:prstGeom prst="rect">
            <a:avLst/>
          </a:prstGeom>
          <a:noFill/>
          <a:ln>
            <a:noFill/>
          </a:ln>
        </p:spPr>
        <p:txBody>
          <a:bodyPr spcFirstLastPara="1" wrap="square" lIns="76750" tIns="76750" rIns="76750" bIns="76750" anchor="t" anchorCtr="0">
            <a:normAutofit/>
          </a:bodyPr>
          <a:lstStyle/>
          <a:p>
            <a:pPr marL="0" marR="0" lvl="0" indent="0" algn="l" rtl="0">
              <a:lnSpc>
                <a:spcPct val="80000"/>
              </a:lnSpc>
              <a:spcBef>
                <a:spcPts val="0"/>
              </a:spcBef>
              <a:spcAft>
                <a:spcPts val="0"/>
              </a:spcAft>
              <a:buClr>
                <a:srgbClr val="000000"/>
              </a:buClr>
              <a:buSzPts val="1343"/>
              <a:buFont typeface="Arial" panose="020B0604020202090204"/>
              <a:buNone/>
            </a:pPr>
            <a:r>
              <a:rPr lang="en-GB" sz="1345" b="0" i="0" u="none" strike="noStrike" cap="none">
                <a:solidFill>
                  <a:srgbClr val="202729"/>
                </a:solidFill>
                <a:latin typeface="Manrope SemiBold"/>
                <a:ea typeface="Manrope SemiBold"/>
                <a:cs typeface="Manrope SemiBold"/>
                <a:sym typeface="Manrope SemiBold"/>
              </a:rPr>
              <a:t>Team Name :</a:t>
            </a:r>
            <a:r>
              <a:rPr lang="en-US" altLang="en-GB" sz="1345" b="0" i="0" u="none" strike="noStrike" cap="none">
                <a:solidFill>
                  <a:srgbClr val="202729"/>
                </a:solidFill>
                <a:latin typeface="Manrope SemiBold"/>
                <a:ea typeface="Manrope SemiBold"/>
                <a:cs typeface="Manrope SemiBold"/>
                <a:sym typeface="Manrope SemiBold"/>
              </a:rPr>
              <a:t> </a:t>
            </a:r>
            <a:r>
              <a:rPr lang="en-US" altLang="en-GB" sz="1345">
                <a:solidFill>
                  <a:srgbClr val="202729"/>
                </a:solidFill>
                <a:latin typeface="Manrope SemiBold"/>
                <a:ea typeface="Manrope SemiBold"/>
                <a:cs typeface="Manrope SemiBold"/>
                <a:sym typeface="Manrope SemiBold"/>
              </a:rPr>
              <a:t>solitaryCyclist17</a:t>
            </a:r>
            <a:endParaRPr lang="en-US" altLang="en-GB" sz="1345" b="0" i="0" u="none" strike="noStrike" cap="none">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402788" y="4250161"/>
            <a:ext cx="7152900" cy="342900"/>
          </a:xfrm>
          <a:prstGeom prst="rect">
            <a:avLst/>
          </a:prstGeom>
          <a:noFill/>
          <a:ln>
            <a:noFill/>
          </a:ln>
        </p:spPr>
        <p:txBody>
          <a:bodyPr spcFirstLastPara="1" wrap="square" lIns="76750" tIns="76750" rIns="76750" bIns="76750" anchor="t" anchorCtr="0">
            <a:normAutofit lnSpcReduction="10000"/>
          </a:bodyPr>
          <a:lstStyle/>
          <a:p>
            <a:pPr marL="0" marR="0" lvl="0" indent="0" algn="l" rtl="0">
              <a:lnSpc>
                <a:spcPct val="70000"/>
              </a:lnSpc>
              <a:spcBef>
                <a:spcPts val="0"/>
              </a:spcBef>
              <a:spcAft>
                <a:spcPts val="0"/>
              </a:spcAft>
              <a:buClr>
                <a:srgbClr val="000000"/>
              </a:buClr>
              <a:buSzPts val="1343"/>
              <a:buFont typeface="Arial" panose="020B0604020202090204"/>
              <a:buNone/>
            </a:pPr>
            <a:r>
              <a:rPr lang="en-GB" sz="1345" b="0" i="0" u="none" strike="noStrike" cap="none">
                <a:solidFill>
                  <a:srgbClr val="202729"/>
                </a:solidFill>
                <a:latin typeface="Manrope SemiBold"/>
                <a:ea typeface="Manrope SemiBold"/>
                <a:cs typeface="Manrope SemiBold"/>
                <a:sym typeface="Manrope SemiBold"/>
              </a:rPr>
              <a:t>Problem Statement :</a:t>
            </a:r>
            <a:r>
              <a:rPr lang="en-US" altLang="en-GB" sz="1345" b="0" i="0" u="none" strike="noStrike" cap="none">
                <a:solidFill>
                  <a:srgbClr val="202729"/>
                </a:solidFill>
                <a:latin typeface="Manrope SemiBold"/>
                <a:ea typeface="Manrope SemiBold"/>
                <a:cs typeface="Manrope SemiBold"/>
                <a:sym typeface="Manrope SemiBold"/>
              </a:rPr>
              <a:t> Predictive Maintenance and OEEE Command Centre</a:t>
            </a:r>
            <a:endParaRPr lang="en-US" altLang="en-GB" sz="1345" b="0" i="0" u="none" strike="noStrike" cap="none">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402798" y="3534656"/>
            <a:ext cx="7152900" cy="372600"/>
          </a:xfrm>
          <a:prstGeom prst="rect">
            <a:avLst/>
          </a:prstGeom>
          <a:noFill/>
          <a:ln>
            <a:noFill/>
          </a:ln>
        </p:spPr>
        <p:txBody>
          <a:bodyPr spcFirstLastPara="1" wrap="square" lIns="76750" tIns="76750" rIns="76750" bIns="76750" anchor="t" anchorCtr="0">
            <a:normAutofit/>
          </a:bodyPr>
          <a:lstStyle/>
          <a:p>
            <a:pPr marL="0" marR="0" lvl="0" indent="0" algn="l" rtl="0">
              <a:lnSpc>
                <a:spcPct val="80000"/>
              </a:lnSpc>
              <a:spcBef>
                <a:spcPts val="0"/>
              </a:spcBef>
              <a:spcAft>
                <a:spcPts val="0"/>
              </a:spcAft>
              <a:buClr>
                <a:srgbClr val="000000"/>
              </a:buClr>
              <a:buSzPts val="1343"/>
              <a:buFont typeface="Arial" panose="020B0604020202090204"/>
              <a:buNone/>
            </a:pPr>
            <a:r>
              <a:rPr lang="en-GB" sz="1345" b="0" i="0" u="none" strike="noStrike" cap="none">
                <a:solidFill>
                  <a:srgbClr val="202729"/>
                </a:solidFill>
                <a:latin typeface="Manrope SemiBold"/>
                <a:ea typeface="Manrope SemiBold"/>
                <a:cs typeface="Manrope SemiBold"/>
                <a:sym typeface="Manrope SemiBold"/>
              </a:rPr>
              <a:t>Team Leader Name :</a:t>
            </a:r>
            <a:r>
              <a:rPr lang="en-US" altLang="en-GB" sz="1345" b="0" i="0" u="none" strike="noStrike" cap="none">
                <a:solidFill>
                  <a:srgbClr val="202729"/>
                </a:solidFill>
                <a:latin typeface="Manrope SemiBold"/>
                <a:ea typeface="Manrope SemiBold"/>
                <a:cs typeface="Manrope SemiBold"/>
                <a:sym typeface="Manrope SemiBold"/>
              </a:rPr>
              <a:t> Priyam Saha</a:t>
            </a:r>
            <a:endParaRPr lang="en-US" altLang="en-GB" sz="1345" b="0" i="0" u="none" strike="noStrike" cap="none">
              <a:solidFill>
                <a:srgbClr val="202729"/>
              </a:solidFill>
              <a:latin typeface="Manrope SemiBold"/>
              <a:ea typeface="Manrope SemiBold"/>
              <a:cs typeface="Manrope SemiBold"/>
              <a:sym typeface="Manrope SemiBold"/>
            </a:endParaRPr>
          </a:p>
        </p:txBody>
      </p:sp>
      <p:sp>
        <p:nvSpPr>
          <p:cNvPr id="58" name="Google Shape;58;p13"/>
          <p:cNvSpPr txBox="1"/>
          <p:nvPr/>
        </p:nvSpPr>
        <p:spPr>
          <a:xfrm>
            <a:off x="402788" y="3907261"/>
            <a:ext cx="7152900" cy="342900"/>
          </a:xfrm>
          <a:prstGeom prst="rect">
            <a:avLst/>
          </a:prstGeom>
          <a:noFill/>
          <a:ln>
            <a:noFill/>
          </a:ln>
        </p:spPr>
        <p:txBody>
          <a:bodyPr spcFirstLastPara="1" wrap="square" lIns="76750" tIns="76750" rIns="76750" bIns="76750" anchor="t" anchorCtr="0">
            <a:normAutofit lnSpcReduction="10000"/>
          </a:bodyPr>
          <a:lstStyle/>
          <a:p>
            <a:pPr marL="0" marR="0" lvl="0" indent="0" algn="l" rtl="0">
              <a:lnSpc>
                <a:spcPct val="70000"/>
              </a:lnSpc>
              <a:spcBef>
                <a:spcPts val="0"/>
              </a:spcBef>
              <a:spcAft>
                <a:spcPts val="0"/>
              </a:spcAft>
              <a:buClr>
                <a:srgbClr val="000000"/>
              </a:buClr>
              <a:buSzPts val="1343"/>
              <a:buFont typeface="Arial" panose="020B0604020202090204"/>
              <a:buNone/>
            </a:pPr>
            <a:r>
              <a:rPr lang="en-GB" sz="1345" b="0" i="0" u="none" strike="noStrike" cap="none">
                <a:solidFill>
                  <a:srgbClr val="202729"/>
                </a:solidFill>
                <a:latin typeface="Manrope SemiBold"/>
                <a:ea typeface="Manrope SemiBold"/>
                <a:cs typeface="Manrope SemiBold"/>
                <a:sym typeface="Manrope SemiBold"/>
              </a:rPr>
              <a:t>Team Size :</a:t>
            </a:r>
            <a:r>
              <a:rPr lang="en-US" altLang="en-GB" sz="1345" b="0" i="0" u="none" strike="noStrike" cap="none">
                <a:solidFill>
                  <a:srgbClr val="202729"/>
                </a:solidFill>
                <a:latin typeface="Manrope SemiBold"/>
                <a:ea typeface="Manrope SemiBold"/>
                <a:cs typeface="Manrope SemiBold"/>
                <a:sym typeface="Manrope SemiBold"/>
              </a:rPr>
              <a:t> 1</a:t>
            </a:r>
            <a:endParaRPr lang="en-US" altLang="en-GB" sz="1345" b="0" i="0" u="none" strike="noStrike" cap="none">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pic>
        <p:nvPicPr>
          <p:cNvPr id="69" name="Google Shape;69;p15"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lnSpcReduction="20000"/>
          </a:bodyPr>
          <a:lstStyle/>
          <a:p>
            <a:pPr marL="0" marR="0" lvl="0" indent="0" algn="l" rtl="0">
              <a:lnSpc>
                <a:spcPct val="115000"/>
              </a:lnSpc>
              <a:spcBef>
                <a:spcPts val="0"/>
              </a:spcBef>
              <a:spcAft>
                <a:spcPts val="0"/>
              </a:spcAft>
              <a:buClr>
                <a:srgbClr val="000000"/>
              </a:buClr>
              <a:buSzPct val="55000"/>
              <a:buFont typeface="Arial" panose="020B0604020202090204"/>
              <a:buNone/>
            </a:pPr>
            <a:r>
              <a:rPr lang="en-GB" sz="1700" b="1" i="0" u="none" strike="noStrike" cap="none">
                <a:solidFill>
                  <a:srgbClr val="202729"/>
                </a:solidFill>
                <a:latin typeface="Manrope"/>
                <a:ea typeface="Manrope"/>
                <a:cs typeface="Manrope"/>
                <a:sym typeface="Manrope"/>
              </a:rPr>
              <a:t>1. Problem Brief</a:t>
            </a:r>
            <a:endParaRPr sz="1700" b="1" i="0" u="none" strike="noStrike" cap="none">
              <a:solidFill>
                <a:srgbClr val="202729"/>
              </a:solidFill>
              <a:latin typeface="Manrope"/>
              <a:ea typeface="Manrope"/>
              <a:cs typeface="Manrope"/>
              <a:sym typeface="Manrope"/>
            </a:endParaRPr>
          </a:p>
          <a:p>
            <a:pPr marL="914400" marR="0" lvl="0" indent="-312420" algn="just" rtl="0">
              <a:lnSpc>
                <a:spcPct val="115000"/>
              </a:lnSpc>
              <a:spcBef>
                <a:spcPts val="120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What real business problem does this solve?</a:t>
            </a:r>
            <a:endParaRPr lang="en-GB" sz="17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120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Unplanned machine failures can lead to production downtime, maintenance delays and operational losses. In many manufacturing environments, sensor data is available but is not easily translated into actionable maintenance decisions. MFG Sentinel uses machine sensor readings to predict failure risk in advance, identify likely failure modes and provide actionable insights so maintenance teams can intervene proactively rather than reacting after a breakdown.</a:t>
            </a: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120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The approach is implemented on </a:t>
            </a:r>
            <a:r>
              <a:rPr lang="en-US" altLang="en-US" sz="1000">
                <a:solidFill>
                  <a:srgbClr val="202729"/>
                </a:solidFill>
                <a:latin typeface="Manrope"/>
                <a:ea typeface="Manrope"/>
                <a:cs typeface="Manrope"/>
                <a:sym typeface="Manrope"/>
              </a:rPr>
              <a:t>Snowflake with a foundation for future ERP, maintenance and OEE integration.</a:t>
            </a:r>
            <a:endParaRPr lang="en-US" altLang="en-US" sz="10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US" altLang="en-US" sz="10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US" altLang="en-US" sz="900" b="0" i="0" u="none" strike="noStrike" cap="none">
              <a:solidFill>
                <a:srgbClr val="202729"/>
              </a:solidFill>
              <a:latin typeface="Manrope"/>
              <a:ea typeface="Manrope"/>
              <a:cs typeface="Manrope"/>
              <a:sym typeface="Manrope"/>
            </a:endParaRPr>
          </a:p>
          <a:p>
            <a:pPr marL="914400" marR="0" lvl="0" indent="-312420" algn="just" rtl="0">
              <a:lnSpc>
                <a:spcPct val="115000"/>
              </a:lnSpc>
              <a:spcBef>
                <a:spcPts val="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Who is the target user/persona?</a:t>
            </a:r>
            <a:endParaRPr lang="en-GB" sz="17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Plant Managers, Maintenance Engineers, Reliability Engineers and Operations Teams.</a:t>
            </a: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US" altLang="en-US" sz="900" b="0" i="0" u="none" strike="noStrike" cap="none">
              <a:solidFill>
                <a:srgbClr val="202729"/>
              </a:solidFill>
              <a:latin typeface="Manrope"/>
              <a:ea typeface="Manrope"/>
              <a:cs typeface="Manrope"/>
              <a:sym typeface="Manrope"/>
            </a:endParaRPr>
          </a:p>
          <a:p>
            <a:pPr marL="914400" marR="0" lvl="0" indent="-312420" algn="just" rtl="0">
              <a:lnSpc>
                <a:spcPct val="115000"/>
              </a:lnSpc>
              <a:spcBef>
                <a:spcPts val="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What is the current pain point and how does this improve it?</a:t>
            </a:r>
            <a:endParaRPr lang="en-GB" sz="17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Maintenance teams often react to failures after disruption occurs. MFG Sentinel converts sensor readings into failure probability, diagnosis, recommended action and alerts, enabling more proactive maintenance decisions.</a:t>
            </a: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US" altLang="en-US" sz="900" b="0" i="0" u="none" strike="noStrike" cap="none">
              <a:solidFill>
                <a:srgbClr val="202729"/>
              </a:solidFill>
              <a:latin typeface="Manrope"/>
              <a:ea typeface="Manrope"/>
              <a:cs typeface="Manrope"/>
              <a:sym typeface="Manrope"/>
            </a:endParaRPr>
          </a:p>
          <a:p>
            <a:pPr marL="914400" marR="0" lvl="0" indent="-312420" algn="just" rtl="0">
              <a:lnSpc>
                <a:spcPct val="115000"/>
              </a:lnSpc>
              <a:spcBef>
                <a:spcPts val="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Industry/domain context</a:t>
            </a:r>
            <a:endParaRPr lang="en-GB" sz="17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Manufacturing • Industrial IoT • Predictive Maintenance</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lnSpcReduction="20000"/>
          </a:bodyPr>
          <a:lstStyle/>
          <a:p>
            <a:pPr marL="0" marR="0" lvl="0" indent="0" algn="l" rtl="0">
              <a:lnSpc>
                <a:spcPct val="115000"/>
              </a:lnSpc>
              <a:spcBef>
                <a:spcPts val="1200"/>
              </a:spcBef>
              <a:spcAft>
                <a:spcPts val="0"/>
              </a:spcAft>
              <a:buClr>
                <a:srgbClr val="000000"/>
              </a:buClr>
              <a:buSzPct val="55000"/>
              <a:buFont typeface="Arial" panose="020B0604020202090204"/>
              <a:buNone/>
            </a:pPr>
            <a:r>
              <a:rPr lang="en-GB" sz="1700" b="1">
                <a:solidFill>
                  <a:srgbClr val="202729"/>
                </a:solidFill>
                <a:latin typeface="Manrope"/>
                <a:ea typeface="Manrope"/>
                <a:cs typeface="Manrope"/>
                <a:sym typeface="Manrope"/>
              </a:rPr>
              <a:t>2. Architecture Diagram</a:t>
            </a:r>
            <a:endParaRPr sz="1700" b="1" i="0" u="none" strike="noStrike" cap="none">
              <a:solidFill>
                <a:srgbClr val="202729"/>
              </a:solidFill>
              <a:latin typeface="Manrope"/>
              <a:ea typeface="Manrope"/>
              <a:cs typeface="Manrope"/>
              <a:sym typeface="Manrope"/>
            </a:endParaRPr>
          </a:p>
          <a:p>
            <a:pPr marL="914400" marR="0" lvl="0" indent="-312420" algn="l" rtl="0">
              <a:lnSpc>
                <a:spcPct val="115000"/>
              </a:lnSpc>
              <a:spcBef>
                <a:spcPts val="1200"/>
              </a:spcBef>
              <a:spcAft>
                <a:spcPts val="0"/>
              </a:spcAft>
              <a:buClr>
                <a:srgbClr val="202729"/>
              </a:buClr>
              <a:buSzPct val="100000"/>
              <a:buFont typeface="Manrope"/>
              <a:buChar char="●"/>
            </a:pPr>
            <a:r>
              <a:rPr lang="en-GB" sz="1700">
                <a:solidFill>
                  <a:srgbClr val="202729"/>
                </a:solidFill>
                <a:latin typeface="Manrope"/>
                <a:ea typeface="Manrope"/>
                <a:cs typeface="Manrope"/>
                <a:sym typeface="Manrope"/>
              </a:rPr>
              <a:t>System </a:t>
            </a:r>
            <a:r>
              <a:rPr lang="en-US" altLang="en-GB" sz="1700">
                <a:solidFill>
                  <a:srgbClr val="202729"/>
                </a:solidFill>
                <a:latin typeface="Manrope"/>
                <a:ea typeface="Manrope"/>
                <a:cs typeface="Manrope"/>
                <a:sym typeface="Manrope"/>
              </a:rPr>
              <a:t>D</a:t>
            </a:r>
            <a:r>
              <a:rPr lang="en-GB" sz="1700">
                <a:solidFill>
                  <a:srgbClr val="202729"/>
                </a:solidFill>
                <a:latin typeface="Manrope"/>
                <a:ea typeface="Manrope"/>
                <a:cs typeface="Manrope"/>
                <a:sym typeface="Manrope"/>
              </a:rPr>
              <a:t>esign </a:t>
            </a:r>
            <a:r>
              <a:rPr lang="en-US" altLang="en-GB" sz="1700">
                <a:solidFill>
                  <a:srgbClr val="202729"/>
                </a:solidFill>
                <a:latin typeface="Manrope"/>
                <a:ea typeface="Manrope"/>
                <a:cs typeface="Manrope"/>
                <a:sym typeface="Manrope"/>
              </a:rPr>
              <a:t>&amp; D</a:t>
            </a:r>
            <a:r>
              <a:rPr lang="en-GB" sz="1700">
                <a:solidFill>
                  <a:srgbClr val="202729"/>
                </a:solidFill>
                <a:latin typeface="Manrope"/>
                <a:ea typeface="Manrope"/>
                <a:cs typeface="Manrope"/>
                <a:sym typeface="Manrope"/>
              </a:rPr>
              <a:t>ata </a:t>
            </a:r>
            <a:r>
              <a:rPr lang="en-US" altLang="en-GB" sz="1700">
                <a:solidFill>
                  <a:srgbClr val="202729"/>
                </a:solidFill>
                <a:latin typeface="Manrope"/>
                <a:ea typeface="Manrope"/>
                <a:cs typeface="Manrope"/>
                <a:sym typeface="Manrope"/>
              </a:rPr>
              <a:t>F</a:t>
            </a:r>
            <a:r>
              <a:rPr lang="en-GB" sz="1700">
                <a:solidFill>
                  <a:srgbClr val="202729"/>
                </a:solidFill>
                <a:latin typeface="Manrope"/>
                <a:ea typeface="Manrope"/>
                <a:cs typeface="Manrope"/>
                <a:sym typeface="Manrope"/>
              </a:rPr>
              <a:t>low</a:t>
            </a:r>
            <a:endParaRPr lang="en-GB" sz="1700">
              <a:solidFill>
                <a:srgbClr val="202729"/>
              </a:solidFill>
              <a:latin typeface="Manrope"/>
              <a:ea typeface="Manrope"/>
              <a:cs typeface="Manrope"/>
              <a:sym typeface="Manrope"/>
            </a:endParaRPr>
          </a:p>
          <a:p>
            <a:pPr marL="601980" marR="0" lvl="0" indent="0" algn="just" rtl="0">
              <a:lnSpc>
                <a:spcPct val="115000"/>
              </a:lnSpc>
              <a:spcBef>
                <a:spcPts val="120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The MFG Sentinel architecture is designed as a modular, Snowflake-centric predictive-maintenance pipeline, where data ingestion, ML prediction, diagnosis, monitoring and incident management are connected through a common analytical layer.</a:t>
            </a: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120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601980" marR="0" lvl="0" indent="0" algn="just" rtl="0">
              <a:lnSpc>
                <a:spcPct val="115000"/>
              </a:lnSpc>
              <a:spcBef>
                <a:spcPts val="120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p:txBody>
      </p:sp>
      <p:pic>
        <p:nvPicPr>
          <p:cNvPr id="2" name="Picture 1" descr="MFG Sentinel — Architecture with Zone Headings"/>
          <p:cNvPicPr>
            <a:picLocks noChangeAspect="1"/>
          </p:cNvPicPr>
          <p:nvPr/>
        </p:nvPicPr>
        <p:blipFill>
          <a:blip r:embed="rId2"/>
          <a:stretch>
            <a:fillRect/>
          </a:stretch>
        </p:blipFill>
        <p:spPr>
          <a:xfrm>
            <a:off x="156210" y="1971040"/>
            <a:ext cx="8825865" cy="2165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lnSpcReduction="20000"/>
          </a:bodyPr>
          <a:lstStyle/>
          <a:p>
            <a:pPr marL="0" marR="0" lvl="0" indent="0" algn="l" rtl="0">
              <a:lnSpc>
                <a:spcPct val="115000"/>
              </a:lnSpc>
              <a:spcBef>
                <a:spcPts val="1200"/>
              </a:spcBef>
              <a:spcAft>
                <a:spcPts val="0"/>
              </a:spcAft>
              <a:buClr>
                <a:srgbClr val="000000"/>
              </a:buClr>
              <a:buSzPct val="55000"/>
              <a:buFont typeface="Arial" panose="020B0604020202090204"/>
              <a:buNone/>
            </a:pPr>
            <a:r>
              <a:rPr lang="en-GB" sz="1700" b="1">
                <a:solidFill>
                  <a:srgbClr val="202729"/>
                </a:solidFill>
                <a:latin typeface="Manrope"/>
                <a:ea typeface="Manrope"/>
                <a:cs typeface="Manrope"/>
                <a:sym typeface="Manrope"/>
              </a:rPr>
              <a:t>2. Architecture Diagram</a:t>
            </a:r>
            <a:endParaRPr lang="en-GB" sz="1700" b="1">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a:p>
            <a:pPr marL="914400" marR="0" lvl="0" indent="-312420" algn="l" rtl="0">
              <a:lnSpc>
                <a:spcPct val="115000"/>
              </a:lnSpc>
              <a:spcBef>
                <a:spcPts val="0"/>
              </a:spcBef>
              <a:spcAft>
                <a:spcPts val="0"/>
              </a:spcAft>
              <a:buClr>
                <a:srgbClr val="202729"/>
              </a:buClr>
              <a:buSzPct val="100000"/>
              <a:buFont typeface="Manrope"/>
              <a:buChar char="●"/>
            </a:pPr>
            <a:r>
              <a:rPr lang="en-GB" sz="1700">
                <a:solidFill>
                  <a:srgbClr val="202729"/>
                </a:solidFill>
                <a:latin typeface="Manrope"/>
                <a:ea typeface="Manrope"/>
                <a:cs typeface="Manrope"/>
                <a:sym typeface="Manrope"/>
              </a:rPr>
              <a:t>Which CoCo CLI skills are used and how they connect</a:t>
            </a:r>
            <a:endParaRPr lang="en-GB" sz="1700">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GB" sz="1700">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-&gt;</a:t>
            </a:r>
            <a:r>
              <a:rPr lang="en-US" altLang="en-US" sz="1000" b="1" i="0" u="none" strike="noStrike" cap="none">
                <a:solidFill>
                  <a:srgbClr val="202729"/>
                </a:solidFill>
                <a:latin typeface="Manrope"/>
                <a:ea typeface="Manrope"/>
                <a:cs typeface="Manrope"/>
                <a:sym typeface="Manrope"/>
              </a:rPr>
              <a:t>Snowflake SQL / Data Engineering</a:t>
            </a:r>
            <a:r>
              <a:rPr lang="en-US" altLang="en-US" sz="1000" b="0" i="0" u="none" strike="noStrike" cap="none">
                <a:solidFill>
                  <a:srgbClr val="202729"/>
                </a:solidFill>
                <a:latin typeface="Manrope"/>
                <a:ea typeface="Manrope"/>
                <a:cs typeface="Manrope"/>
                <a:sym typeface="Manrope"/>
              </a:rPr>
              <a:t>:</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Used for data ingestion, transformation and feature engineering.</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-&gt;</a:t>
            </a:r>
            <a:r>
              <a:rPr lang="en-US" altLang="en-US" sz="1000" b="1" i="0" u="none" strike="noStrike" cap="none">
                <a:solidFill>
                  <a:srgbClr val="202729"/>
                </a:solidFill>
                <a:latin typeface="Manrope"/>
                <a:ea typeface="Manrope"/>
                <a:cs typeface="Manrope"/>
                <a:sym typeface="Manrope"/>
              </a:rPr>
              <a:t>Snowflake ML</a:t>
            </a:r>
            <a:r>
              <a:rPr lang="en-US" altLang="en-US" sz="1000" b="0" i="0" u="none" strike="noStrike" cap="none">
                <a:solidFill>
                  <a:srgbClr val="202729"/>
                </a:solidFill>
                <a:latin typeface="Manrope"/>
                <a:ea typeface="Manrope"/>
                <a:cs typeface="Manrope"/>
                <a:sym typeface="Manrope"/>
              </a:rPr>
              <a:t>:</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Used to create, train, evaluate and run the six predictive-maintenance models.</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-&gt;</a:t>
            </a:r>
            <a:r>
              <a:rPr lang="en-US" altLang="en-US" sz="1000" b="1" i="0" u="none" strike="noStrike" cap="none">
                <a:solidFill>
                  <a:srgbClr val="202729"/>
                </a:solidFill>
                <a:latin typeface="Manrope"/>
                <a:ea typeface="Manrope"/>
                <a:cs typeface="Manrope"/>
                <a:sym typeface="Manrope"/>
              </a:rPr>
              <a:t>Streamlit / Python</a:t>
            </a:r>
            <a:r>
              <a:rPr lang="en-US" altLang="en-US" sz="1000" b="0" i="0" u="none" strike="noStrike" cap="none">
                <a:solidFill>
                  <a:srgbClr val="202729"/>
                </a:solidFill>
                <a:latin typeface="Manrope"/>
                <a:ea typeface="Manrope"/>
                <a:cs typeface="Manrope"/>
                <a:sym typeface="Manrope"/>
              </a:rPr>
              <a:t>:</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1000" b="0" i="0" u="none" strike="noStrike" cap="none">
                <a:solidFill>
                  <a:srgbClr val="202729"/>
                </a:solidFill>
                <a:latin typeface="Manrope"/>
                <a:ea typeface="Manrope"/>
                <a:cs typeface="Manrope"/>
                <a:sym typeface="Manrope"/>
              </a:rPr>
              <a:t>Used to build the interactive Command Center, live prediction workflow, KPI views and incident management.</a:t>
            </a:r>
            <a:endParaRPr lang="en-US" altLang="en-US" sz="10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1200"/>
              </a:spcBef>
              <a:spcAft>
                <a:spcPts val="0"/>
              </a:spcAft>
              <a:buClr>
                <a:srgbClr val="000000"/>
              </a:buClr>
              <a:buSzPct val="55000"/>
              <a:buFont typeface="Arial" panose="020B0604020202090204"/>
              <a:buNone/>
            </a:pPr>
            <a:r>
              <a:rPr lang="en-GB" sz="1700" b="1">
                <a:solidFill>
                  <a:srgbClr val="202729"/>
                </a:solidFill>
                <a:latin typeface="Manrope"/>
                <a:ea typeface="Manrope"/>
                <a:cs typeface="Manrope"/>
                <a:sym typeface="Manrope"/>
              </a:rPr>
              <a:t>2. Architecture Diagram</a:t>
            </a:r>
            <a:endParaRPr lang="en-GB" sz="1700" b="1">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a:p>
            <a:pPr marL="914400" marR="0" lvl="0" indent="-312420" algn="l" rtl="0">
              <a:lnSpc>
                <a:spcPct val="115000"/>
              </a:lnSpc>
              <a:spcBef>
                <a:spcPts val="0"/>
              </a:spcBef>
              <a:spcAft>
                <a:spcPts val="0"/>
              </a:spcAft>
              <a:buClr>
                <a:srgbClr val="202729"/>
              </a:buClr>
              <a:buSzPct val="100000"/>
              <a:buFont typeface="Manrope"/>
              <a:buChar char="●"/>
            </a:pPr>
            <a:r>
              <a:rPr lang="en-GB" sz="1700">
                <a:solidFill>
                  <a:srgbClr val="202729"/>
                </a:solidFill>
                <a:latin typeface="Manrope"/>
                <a:ea typeface="Manrope"/>
                <a:cs typeface="Manrope"/>
                <a:sym typeface="Manrope"/>
              </a:rPr>
              <a:t>Data sources</a:t>
            </a:r>
            <a:endParaRPr lang="en-GB" sz="1700">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GB" sz="17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The current MVP uses the AI4I 2020 Predictive Maintenance Dataset, containing 10,000 machine observations and 14 attributes. The attributes fall into three categories:</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1. </a:t>
            </a:r>
            <a:r>
              <a:rPr lang="en-US" altLang="en-US" sz="900" b="1">
                <a:solidFill>
                  <a:srgbClr val="202729"/>
                </a:solidFill>
                <a:latin typeface="Manrope"/>
                <a:ea typeface="Manrope"/>
                <a:cs typeface="Manrope"/>
                <a:sym typeface="Manrope"/>
              </a:rPr>
              <a:t>Machine Context: </a:t>
            </a:r>
            <a:r>
              <a:rPr lang="en-US" altLang="en-US" sz="900">
                <a:solidFill>
                  <a:srgbClr val="202729"/>
                </a:solidFill>
                <a:latin typeface="Manrope"/>
                <a:ea typeface="Manrope"/>
                <a:cs typeface="Manrope"/>
                <a:sym typeface="Manrope"/>
              </a:rPr>
              <a:t>UDI, Product ID and product Type provide basic observation and product information.</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2. </a:t>
            </a:r>
            <a:r>
              <a:rPr lang="en-US" altLang="en-US" sz="900" b="1">
                <a:solidFill>
                  <a:srgbClr val="202729"/>
                </a:solidFill>
                <a:latin typeface="Manrope"/>
                <a:ea typeface="Manrope"/>
                <a:cs typeface="Manrope"/>
                <a:sym typeface="Manrope"/>
              </a:rPr>
              <a:t>Sensor Signals: </a:t>
            </a:r>
            <a:r>
              <a:rPr lang="en-US" altLang="en-US" sz="900">
                <a:solidFill>
                  <a:srgbClr val="202729"/>
                </a:solidFill>
                <a:latin typeface="Manrope"/>
                <a:ea typeface="Manrope"/>
                <a:cs typeface="Manrope"/>
                <a:sym typeface="Manrope"/>
              </a:rPr>
              <a:t>Air/Process Temperature, RPM, Torque and Tool Wear represent the machine’s operating condition.</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3. </a:t>
            </a:r>
            <a:r>
              <a:rPr lang="en-US" altLang="en-US" sz="900" b="1">
                <a:solidFill>
                  <a:srgbClr val="202729"/>
                </a:solidFill>
                <a:latin typeface="Manrope"/>
                <a:ea typeface="Manrope"/>
                <a:cs typeface="Manrope"/>
                <a:sym typeface="Manrope"/>
              </a:rPr>
              <a:t>Failure Labels: </a:t>
            </a:r>
            <a:r>
              <a:rPr lang="en-US" altLang="en-US" sz="900">
                <a:solidFill>
                  <a:srgbClr val="202729"/>
                </a:solidFill>
                <a:latin typeface="Manrope"/>
                <a:ea typeface="Manrope"/>
                <a:cs typeface="Manrope"/>
                <a:sym typeface="Manrope"/>
              </a:rPr>
              <a:t>The dataset contains Machine Failure and five specific failure-mode labels:- </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 </a:t>
            </a:r>
            <a:r>
              <a:rPr lang="en-US" altLang="en-US" sz="900" b="1">
                <a:solidFill>
                  <a:srgbClr val="202729"/>
                </a:solidFill>
                <a:latin typeface="Manrope"/>
                <a:ea typeface="Manrope"/>
                <a:cs typeface="Manrope"/>
                <a:sym typeface="Manrope"/>
              </a:rPr>
              <a:t>TWF</a:t>
            </a:r>
            <a:r>
              <a:rPr lang="en-US" altLang="en-US" sz="900">
                <a:solidFill>
                  <a:srgbClr val="202729"/>
                </a:solidFill>
                <a:latin typeface="Manrope"/>
                <a:ea typeface="Manrope"/>
                <a:cs typeface="Manrope"/>
                <a:sym typeface="Manrope"/>
              </a:rPr>
              <a:t>: Tool Wear Failure</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 </a:t>
            </a:r>
            <a:r>
              <a:rPr lang="en-US" altLang="en-US" sz="900" b="1">
                <a:solidFill>
                  <a:srgbClr val="202729"/>
                </a:solidFill>
                <a:latin typeface="Manrope"/>
                <a:ea typeface="Manrope"/>
                <a:cs typeface="Manrope"/>
                <a:sym typeface="Manrope"/>
              </a:rPr>
              <a:t>HDF</a:t>
            </a:r>
            <a:r>
              <a:rPr lang="en-US" altLang="en-US" sz="900">
                <a:solidFill>
                  <a:srgbClr val="202729"/>
                </a:solidFill>
                <a:latin typeface="Manrope"/>
                <a:ea typeface="Manrope"/>
                <a:cs typeface="Manrope"/>
                <a:sym typeface="Manrope"/>
              </a:rPr>
              <a:t>: Heat Dissipation Failure</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 </a:t>
            </a:r>
            <a:r>
              <a:rPr lang="en-US" altLang="en-US" sz="900" b="1">
                <a:solidFill>
                  <a:srgbClr val="202729"/>
                </a:solidFill>
                <a:latin typeface="Manrope"/>
                <a:ea typeface="Manrope"/>
                <a:cs typeface="Manrope"/>
                <a:sym typeface="Manrope"/>
              </a:rPr>
              <a:t>PWF</a:t>
            </a:r>
            <a:r>
              <a:rPr lang="en-US" altLang="en-US" sz="900">
                <a:solidFill>
                  <a:srgbClr val="202729"/>
                </a:solidFill>
                <a:latin typeface="Manrope"/>
                <a:ea typeface="Manrope"/>
                <a:cs typeface="Manrope"/>
                <a:sym typeface="Manrope"/>
              </a:rPr>
              <a:t>: Power Failure</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 </a:t>
            </a:r>
            <a:r>
              <a:rPr lang="en-US" altLang="en-US" sz="900" b="1">
                <a:solidFill>
                  <a:srgbClr val="202729"/>
                </a:solidFill>
                <a:latin typeface="Manrope"/>
                <a:ea typeface="Manrope"/>
                <a:cs typeface="Manrope"/>
                <a:sym typeface="Manrope"/>
              </a:rPr>
              <a:t>OSF</a:t>
            </a:r>
            <a:r>
              <a:rPr lang="en-US" altLang="en-US" sz="900">
                <a:solidFill>
                  <a:srgbClr val="202729"/>
                </a:solidFill>
                <a:latin typeface="Manrope"/>
                <a:ea typeface="Manrope"/>
                <a:cs typeface="Manrope"/>
                <a:sym typeface="Manrope"/>
              </a:rPr>
              <a:t>: Overstrain Failure</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r>
              <a:rPr lang="en-US" altLang="en-US" sz="900">
                <a:solidFill>
                  <a:srgbClr val="202729"/>
                </a:solidFill>
                <a:latin typeface="Manrope"/>
                <a:ea typeface="Manrope"/>
                <a:cs typeface="Manrope"/>
                <a:sym typeface="Manrope"/>
              </a:rPr>
              <a:t>- </a:t>
            </a:r>
            <a:r>
              <a:rPr lang="en-US" altLang="en-US" sz="900" b="1">
                <a:solidFill>
                  <a:srgbClr val="202729"/>
                </a:solidFill>
                <a:latin typeface="Manrope"/>
                <a:ea typeface="Manrope"/>
                <a:cs typeface="Manrope"/>
                <a:sym typeface="Manrope"/>
              </a:rPr>
              <a:t>RNF</a:t>
            </a:r>
            <a:r>
              <a:rPr lang="en-US" altLang="en-US" sz="900">
                <a:solidFill>
                  <a:srgbClr val="202729"/>
                </a:solidFill>
                <a:latin typeface="Manrope"/>
                <a:ea typeface="Manrope"/>
                <a:cs typeface="Manrope"/>
                <a:sym typeface="Manrope"/>
              </a:rPr>
              <a:t>: Random Failure</a:t>
            </a:r>
            <a:endParaRPr lang="en-US" altLang="en-US" sz="900">
              <a:solidFill>
                <a:srgbClr val="202729"/>
              </a:solidFill>
              <a:latin typeface="Manrope"/>
              <a:ea typeface="Manrope"/>
              <a:cs typeface="Manrope"/>
              <a:sym typeface="Manrope"/>
            </a:endParaRPr>
          </a:p>
          <a:p>
            <a:pPr marL="601980" marR="0" lvl="0" indent="0" algn="just" rtl="0">
              <a:lnSpc>
                <a:spcPct val="115000"/>
              </a:lnSpc>
              <a:spcBef>
                <a:spcPts val="0"/>
              </a:spcBef>
              <a:spcAft>
                <a:spcPts val="0"/>
              </a:spcAft>
              <a:buClr>
                <a:srgbClr val="202729"/>
              </a:buClr>
              <a:buSzPct val="100000"/>
              <a:buFont typeface="Manrope"/>
              <a:buNone/>
            </a:pPr>
            <a:endParaRPr lang="en-GB" sz="17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1200"/>
              </a:spcBef>
              <a:spcAft>
                <a:spcPts val="0"/>
              </a:spcAft>
              <a:buClr>
                <a:srgbClr val="000000"/>
              </a:buClr>
              <a:buSzPct val="55000"/>
              <a:buFont typeface="Arial" panose="020B0604020202090204"/>
              <a:buNone/>
            </a:pPr>
            <a:r>
              <a:rPr lang="en-GB" sz="1700" b="1">
                <a:solidFill>
                  <a:srgbClr val="202729"/>
                </a:solidFill>
                <a:latin typeface="Manrope"/>
                <a:ea typeface="Manrope"/>
                <a:cs typeface="Manrope"/>
                <a:sym typeface="Manrope"/>
              </a:rPr>
              <a:t>2. Architecture Diagram</a:t>
            </a:r>
            <a:endParaRPr lang="en-GB" sz="800" b="1">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GB" sz="1700" b="0" i="0" u="none" strike="noStrike" cap="none">
              <a:solidFill>
                <a:srgbClr val="202729"/>
              </a:solidFill>
              <a:latin typeface="Manrope"/>
              <a:ea typeface="Manrope"/>
              <a:cs typeface="Manrope"/>
              <a:sym typeface="Manrope"/>
            </a:endParaRPr>
          </a:p>
          <a:p>
            <a:pPr marL="914400" marR="0" lvl="0" indent="-312420" algn="l" rtl="0">
              <a:lnSpc>
                <a:spcPct val="115000"/>
              </a:lnSpc>
              <a:spcBef>
                <a:spcPts val="0"/>
              </a:spcBef>
              <a:spcAft>
                <a:spcPts val="0"/>
              </a:spcAft>
              <a:buClr>
                <a:srgbClr val="202729"/>
              </a:buClr>
              <a:buSzPct val="100000"/>
              <a:buFont typeface="Manrope"/>
              <a:buChar char="●"/>
            </a:pPr>
            <a:r>
              <a:rPr lang="en-GB" sz="1700">
                <a:solidFill>
                  <a:srgbClr val="202729"/>
                </a:solidFill>
                <a:latin typeface="Manrope"/>
                <a:ea typeface="Manrope"/>
                <a:cs typeface="Manrope"/>
                <a:sym typeface="Manrope"/>
              </a:rPr>
              <a:t>How modular components plug together</a:t>
            </a:r>
            <a:endParaRPr lang="en-GB" sz="17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 </a:t>
            </a:r>
            <a:r>
              <a:rPr lang="en-US" altLang="en-US" sz="1000" b="1" i="0" u="none" strike="noStrike" cap="none">
                <a:solidFill>
                  <a:srgbClr val="202729"/>
                </a:solidFill>
                <a:latin typeface="Manrope"/>
                <a:ea typeface="Manrope"/>
                <a:cs typeface="Manrope"/>
                <a:sym typeface="Manrope"/>
              </a:rPr>
              <a:t>Data Layer → ML Layer: </a:t>
            </a:r>
            <a:r>
              <a:rPr lang="en-US" altLang="en-US" sz="1000" b="0" i="0" u="none" strike="noStrike" cap="none">
                <a:solidFill>
                  <a:srgbClr val="202729"/>
                </a:solidFill>
                <a:latin typeface="Manrope"/>
                <a:ea typeface="Manrope"/>
                <a:cs typeface="Manrope"/>
                <a:sym typeface="Manrope"/>
              </a:rPr>
              <a:t>Snowflake tables and SQL feature engineering prepare sensor data into model-ready features.</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 </a:t>
            </a:r>
            <a:r>
              <a:rPr lang="en-US" altLang="en-US" sz="1000" b="1" i="0" u="none" strike="noStrike" cap="none">
                <a:solidFill>
                  <a:srgbClr val="202729"/>
                </a:solidFill>
                <a:latin typeface="Manrope"/>
                <a:ea typeface="Manrope"/>
                <a:cs typeface="Manrope"/>
                <a:sym typeface="Manrope"/>
              </a:rPr>
              <a:t>ML Layer → Intelligence Layer:</a:t>
            </a:r>
            <a:r>
              <a:rPr lang="en-US" altLang="en-US" sz="1000" b="0" i="0" u="none" strike="noStrike" cap="none">
                <a:solidFill>
                  <a:srgbClr val="202729"/>
                </a:solidFill>
                <a:latin typeface="Manrope"/>
                <a:ea typeface="Manrope"/>
                <a:cs typeface="Manrope"/>
                <a:sym typeface="Manrope"/>
              </a:rPr>
              <a:t> Six Snowflake ML models generate overall failure probability and failure-mode predictions.</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 </a:t>
            </a:r>
            <a:r>
              <a:rPr lang="en-US" altLang="en-US" sz="1000" b="1" i="0" u="none" strike="noStrike" cap="none">
                <a:solidFill>
                  <a:srgbClr val="202729"/>
                </a:solidFill>
                <a:latin typeface="Manrope"/>
                <a:ea typeface="Manrope"/>
                <a:cs typeface="Manrope"/>
                <a:sym typeface="Manrope"/>
              </a:rPr>
              <a:t>Intelligence → Application: </a:t>
            </a:r>
            <a:r>
              <a:rPr lang="en-US" altLang="en-US" sz="1000" b="0" i="0" u="none" strike="noStrike" cap="none">
                <a:solidFill>
                  <a:srgbClr val="202729"/>
                </a:solidFill>
                <a:latin typeface="Manrope"/>
                <a:ea typeface="Manrope"/>
                <a:cs typeface="Manrope"/>
                <a:sym typeface="Manrope"/>
              </a:rPr>
              <a:t>Python-based diagnostic logic converts model outputs into risk level, likely failure mode and recommended action.</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 </a:t>
            </a:r>
            <a:r>
              <a:rPr lang="en-US" altLang="en-US" sz="1000" b="1" i="0" u="none" strike="noStrike" cap="none">
                <a:solidFill>
                  <a:srgbClr val="202729"/>
                </a:solidFill>
                <a:latin typeface="Manrope"/>
                <a:ea typeface="Manrope"/>
                <a:cs typeface="Manrope"/>
                <a:sym typeface="Manrope"/>
              </a:rPr>
              <a:t>Application Layer: </a:t>
            </a:r>
            <a:r>
              <a:rPr lang="en-US" altLang="en-US" sz="1000" b="0" i="0" u="none" strike="noStrike" cap="none">
                <a:solidFill>
                  <a:srgbClr val="202729"/>
                </a:solidFill>
                <a:latin typeface="Manrope"/>
                <a:ea typeface="Manrope"/>
                <a:cs typeface="Manrope"/>
                <a:sym typeface="Manrope"/>
              </a:rPr>
              <a:t>Streamlit brings these outputs together across Live Analysis, KPI Dashboard and Incident Register.</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 </a:t>
            </a:r>
            <a:r>
              <a:rPr lang="en-US" altLang="en-US" sz="1000" b="1" i="0" u="none" strike="noStrike" cap="none">
                <a:solidFill>
                  <a:srgbClr val="202729"/>
                </a:solidFill>
                <a:latin typeface="Manrope"/>
                <a:ea typeface="Manrope"/>
                <a:cs typeface="Manrope"/>
                <a:sym typeface="Manrope"/>
              </a:rPr>
              <a:t>Action Layer:</a:t>
            </a:r>
            <a:r>
              <a:rPr lang="en-US" altLang="en-US" sz="1000" b="0" i="0" u="none" strike="noStrike" cap="none">
                <a:solidFill>
                  <a:srgbClr val="202729"/>
                </a:solidFill>
                <a:latin typeface="Manrope"/>
                <a:ea typeface="Manrope"/>
                <a:cs typeface="Manrope"/>
                <a:sym typeface="Manrope"/>
              </a:rPr>
              <a:t> Critical-risk results create an incident and trigger automated email notification through Snowflake.</a:t>
            </a: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endParaRPr lang="en-US" altLang="en-US" sz="1000" b="0"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1" i="0" u="none" strike="noStrike" cap="none">
                <a:solidFill>
                  <a:srgbClr val="202729"/>
                </a:solidFill>
                <a:latin typeface="Manrope"/>
                <a:ea typeface="Manrope"/>
                <a:cs typeface="Manrope"/>
                <a:sym typeface="Manrope"/>
              </a:rPr>
              <a:t>Overall:</a:t>
            </a:r>
            <a:endParaRPr lang="en-US" altLang="en-US" sz="1000" b="1" i="0" u="none" strike="noStrike" cap="none">
              <a:solidFill>
                <a:srgbClr val="202729"/>
              </a:solidFill>
              <a:latin typeface="Manrope"/>
              <a:ea typeface="Manrope"/>
              <a:cs typeface="Manrope"/>
              <a:sym typeface="Manrope"/>
            </a:endParaRPr>
          </a:p>
          <a:p>
            <a:pPr marL="0" marR="0" lvl="0" indent="0" algn="l" rtl="0">
              <a:lnSpc>
                <a:spcPct val="115000"/>
              </a:lnSpc>
              <a:spcBef>
                <a:spcPts val="1200"/>
              </a:spcBef>
              <a:spcAft>
                <a:spcPts val="0"/>
              </a:spcAft>
              <a:buClr>
                <a:srgbClr val="000000"/>
              </a:buClr>
              <a:buSzPct val="55000"/>
              <a:buFont typeface="Arial" panose="020B0604020202090204"/>
              <a:buNone/>
            </a:pPr>
            <a:r>
              <a:rPr lang="en-US" altLang="en-US" sz="1000" b="0" i="0" u="none" strike="noStrike" cap="none">
                <a:solidFill>
                  <a:srgbClr val="202729"/>
                </a:solidFill>
                <a:latin typeface="Manrope"/>
                <a:ea typeface="Manrope"/>
                <a:cs typeface="Manrope"/>
                <a:sym typeface="Manrope"/>
              </a:rPr>
              <a:t>Ingest → Engineer → Predict → Diagnose → Visualize → Alert &amp; Track</a:t>
            </a:r>
            <a:endParaRPr lang="en-US" altLang="en-US" sz="1000" b="0" i="0" u="none" strike="noStrike" cap="none">
              <a:solidFill>
                <a:srgbClr val="202729"/>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pic>
        <p:nvPicPr>
          <p:cNvPr id="79" name="Google Shape;79;p17" title="Framewsxexexe 233.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80" name="Google Shape;80;p17"/>
          <p:cNvSpPr txBox="1"/>
          <p:nvPr/>
        </p:nvSpPr>
        <p:spPr>
          <a:xfrm>
            <a:off x="315900" y="4478850"/>
            <a:ext cx="8512200" cy="5328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000000"/>
              </a:buClr>
              <a:buSzPts val="935"/>
              <a:buFont typeface="Arial" panose="020B0604020202090204"/>
              <a:buNone/>
            </a:pPr>
            <a:r>
              <a:rPr lang="en-GB" sz="900" b="1" i="1" u="none" strike="noStrike" cap="none">
                <a:solidFill>
                  <a:srgbClr val="202729"/>
                </a:solidFill>
                <a:latin typeface="Manrope"/>
                <a:ea typeface="Manrope"/>
                <a:cs typeface="Manrope"/>
                <a:sym typeface="Manrope"/>
              </a:rPr>
              <a:t>Additional Slide</a:t>
            </a:r>
            <a:endParaRPr sz="600" b="0" i="1" u="none" strike="noStrike" cap="none">
              <a:solidFill>
                <a:srgbClr val="434343"/>
              </a:solidFill>
              <a:latin typeface="Manrope"/>
              <a:ea typeface="Manrope"/>
              <a:cs typeface="Manrope"/>
              <a:sym typeface="Manrope"/>
            </a:endParaRPr>
          </a:p>
        </p:txBody>
      </p:sp>
      <p:sp>
        <p:nvSpPr>
          <p:cNvPr id="64" name="Google Shape;64;p14"/>
          <p:cNvSpPr txBox="1"/>
          <p:nvPr/>
        </p:nvSpPr>
        <p:spPr>
          <a:xfrm>
            <a:off x="329100" y="600420"/>
            <a:ext cx="8485800" cy="42966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1200"/>
              </a:spcBef>
              <a:spcAft>
                <a:spcPts val="0"/>
              </a:spcAft>
              <a:buClr>
                <a:srgbClr val="000000"/>
              </a:buClr>
              <a:buSzPct val="100000"/>
              <a:buFont typeface="Arial" panose="020B0604020202090204"/>
              <a:buNone/>
            </a:pPr>
            <a:r>
              <a:rPr lang="en-GB" sz="1700" b="1" i="0" u="none" strike="noStrike" cap="none">
                <a:solidFill>
                  <a:srgbClr val="202729"/>
                </a:solidFill>
                <a:latin typeface="Manrope"/>
                <a:ea typeface="Manrope"/>
                <a:cs typeface="Manrope"/>
                <a:sym typeface="Manrope"/>
              </a:rPr>
              <a:t>3. Impact Statement</a:t>
            </a:r>
            <a:endParaRPr sz="1700" b="1" i="0" u="none" strike="noStrike" cap="none">
              <a:solidFill>
                <a:srgbClr val="202729"/>
              </a:solidFill>
              <a:latin typeface="Manrope"/>
              <a:ea typeface="Manrope"/>
              <a:cs typeface="Manrope"/>
              <a:sym typeface="Manrope"/>
            </a:endParaRPr>
          </a:p>
          <a:p>
            <a:pPr marL="914400" marR="0" lvl="0" indent="-312420" algn="l" rtl="0">
              <a:lnSpc>
                <a:spcPct val="115000"/>
              </a:lnSpc>
              <a:spcBef>
                <a:spcPts val="120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Measurable outcomes</a:t>
            </a:r>
            <a:r>
              <a:rPr lang="en-US" altLang="en-GB" sz="1700" b="0" i="0" u="none" strike="noStrike" cap="none">
                <a:solidFill>
                  <a:srgbClr val="202729"/>
                </a:solidFill>
                <a:latin typeface="Manrope"/>
                <a:ea typeface="Manrope"/>
                <a:cs typeface="Manrope"/>
                <a:sym typeface="Manrope"/>
              </a:rPr>
              <a:t>:</a:t>
            </a:r>
            <a:endParaRPr lang="en-US" altLang="en-GB" sz="1700" b="0" i="0" u="none" strike="noStrike" cap="none">
              <a:solidFill>
                <a:srgbClr val="202729"/>
              </a:solidFill>
              <a:latin typeface="Manrope"/>
              <a:ea typeface="Manrope"/>
              <a:cs typeface="Manrope"/>
              <a:sym typeface="Manrope"/>
            </a:endParaRPr>
          </a:p>
          <a:p>
            <a:pPr marL="601980" marR="0" lvl="0" indent="0" algn="l" rtl="0">
              <a:lnSpc>
                <a:spcPct val="115000"/>
              </a:lnSpc>
              <a:spcBef>
                <a:spcPts val="1200"/>
              </a:spcBef>
              <a:spcAft>
                <a:spcPts val="0"/>
              </a:spcAft>
              <a:buClr>
                <a:srgbClr val="202729"/>
              </a:buClr>
              <a:buSzPct val="100000"/>
              <a:buFont typeface="Manrope"/>
              <a:buNone/>
            </a:pPr>
            <a:r>
              <a:rPr lang="en-US" altLang="en-US" sz="900" b="0" i="0" u="none" strike="noStrike" cap="none">
                <a:solidFill>
                  <a:srgbClr val="202729"/>
                </a:solidFill>
                <a:latin typeface="Manrope"/>
                <a:ea typeface="Manrope"/>
                <a:cs typeface="Manrope"/>
                <a:sym typeface="Manrope"/>
              </a:rPr>
              <a:t>1. 90.7% Macro F1 and 97.9% Macro AUC for overall failure prediction.</a:t>
            </a:r>
            <a:endParaRPr lang="en-US" altLang="en-US" sz="900" b="0" i="0" u="none" strike="noStrike" cap="none">
              <a:solidFill>
                <a:srgbClr val="202729"/>
              </a:solidFill>
              <a:latin typeface="Manrope"/>
              <a:ea typeface="Manrope"/>
              <a:cs typeface="Manrope"/>
              <a:sym typeface="Manrope"/>
            </a:endParaRPr>
          </a:p>
          <a:p>
            <a:pPr marL="601980" marR="0" lvl="0" indent="0" algn="l" rtl="0">
              <a:lnSpc>
                <a:spcPct val="115000"/>
              </a:lnSpc>
              <a:spcBef>
                <a:spcPts val="1200"/>
              </a:spcBef>
              <a:spcAft>
                <a:spcPts val="0"/>
              </a:spcAft>
              <a:buClr>
                <a:srgbClr val="202729"/>
              </a:buClr>
              <a:buSzPct val="100000"/>
              <a:buFont typeface="Manrope"/>
              <a:buNone/>
            </a:pPr>
            <a:r>
              <a:rPr lang="en-US" altLang="en-US" sz="900" b="0" i="0" u="none" strike="noStrike" cap="none">
                <a:solidFill>
                  <a:srgbClr val="202729"/>
                </a:solidFill>
                <a:latin typeface="Manrope"/>
                <a:ea typeface="Manrope"/>
                <a:cs typeface="Manrope"/>
                <a:sym typeface="Manrope"/>
              </a:rPr>
              <a:t>2. Automated diagnosis, KPI monitoring and critical-risk email alerts reduce manual intervention.</a:t>
            </a:r>
            <a:endParaRPr lang="en-US" altLang="en-US" sz="900" b="0" i="0" u="none" strike="noStrike" cap="none">
              <a:solidFill>
                <a:srgbClr val="202729"/>
              </a:solidFill>
              <a:latin typeface="Manrope"/>
              <a:ea typeface="Manrope"/>
              <a:cs typeface="Manrope"/>
              <a:sym typeface="Manrope"/>
            </a:endParaRPr>
          </a:p>
          <a:p>
            <a:pPr marL="601980" marR="0" lvl="0" indent="0" algn="l" rtl="0">
              <a:lnSpc>
                <a:spcPct val="115000"/>
              </a:lnSpc>
              <a:spcBef>
                <a:spcPts val="1200"/>
              </a:spcBef>
              <a:spcAft>
                <a:spcPts val="0"/>
              </a:spcAft>
              <a:buClr>
                <a:srgbClr val="202729"/>
              </a:buClr>
              <a:buSzPct val="100000"/>
              <a:buFont typeface="Manrope"/>
              <a:buNone/>
            </a:pPr>
            <a:endParaRPr sz="1700" b="0" i="0" u="none" strike="noStrike" cap="none">
              <a:solidFill>
                <a:srgbClr val="202729"/>
              </a:solidFill>
              <a:latin typeface="Manrope"/>
              <a:ea typeface="Manrope"/>
              <a:cs typeface="Manrope"/>
              <a:sym typeface="Manrope"/>
            </a:endParaRPr>
          </a:p>
          <a:p>
            <a:pPr marL="914400" marR="0" lvl="0" indent="-312420" algn="l" rtl="0">
              <a:lnSpc>
                <a:spcPct val="115000"/>
              </a:lnSpc>
              <a:spcBef>
                <a:spcPts val="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Scalability potential</a:t>
            </a:r>
            <a:endParaRPr lang="en-US" altLang="en-US" sz="17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900" b="0" i="0" u="none" strike="noStrike" cap="none">
                <a:solidFill>
                  <a:srgbClr val="202729"/>
                </a:solidFill>
                <a:latin typeface="Manrope"/>
                <a:ea typeface="Manrope"/>
                <a:cs typeface="Manrope"/>
                <a:sym typeface="Manrope"/>
              </a:rPr>
              <a:t>Handles high-volume machine logs and sensor observations by leveraging Snowflake’s scalable storage and compute architecture for large-scale ingestion, processing and ML inference.</a:t>
            </a:r>
            <a:endParaRPr lang="en-US" altLang="en-US" sz="9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endParaRPr lang="en-US" altLang="en-US" sz="900" b="0" i="0" u="none" strike="noStrike" cap="none">
              <a:solidFill>
                <a:srgbClr val="202729"/>
              </a:solidFill>
              <a:latin typeface="Manrope"/>
              <a:ea typeface="Manrope"/>
              <a:cs typeface="Manrope"/>
              <a:sym typeface="Manrope"/>
            </a:endParaRPr>
          </a:p>
          <a:p>
            <a:pPr marL="914400" marR="0" lvl="0" indent="-312420" algn="l" rtl="0">
              <a:lnSpc>
                <a:spcPct val="115000"/>
              </a:lnSpc>
              <a:spcBef>
                <a:spcPts val="0"/>
              </a:spcBef>
              <a:spcAft>
                <a:spcPts val="0"/>
              </a:spcAft>
              <a:buClr>
                <a:srgbClr val="202729"/>
              </a:buClr>
              <a:buSzPct val="100000"/>
              <a:buFont typeface="Manrope"/>
              <a:buChar char="●"/>
            </a:pPr>
            <a:r>
              <a:rPr lang="en-GB" sz="1700" b="0" i="0" u="none" strike="noStrike" cap="none">
                <a:solidFill>
                  <a:srgbClr val="202729"/>
                </a:solidFill>
                <a:latin typeface="Manrope"/>
                <a:ea typeface="Manrope"/>
                <a:cs typeface="Manrope"/>
                <a:sym typeface="Manrope"/>
              </a:rPr>
              <a:t>How this extends beyond the demo</a:t>
            </a:r>
            <a:endParaRPr lang="en-GB" sz="17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900" b="0" i="0" u="none" strike="noStrike" cap="none">
                <a:solidFill>
                  <a:srgbClr val="202729"/>
                </a:solidFill>
                <a:latin typeface="Manrope"/>
                <a:ea typeface="Manrope"/>
                <a:cs typeface="Manrope"/>
                <a:sym typeface="Manrope"/>
              </a:rPr>
              <a:t>1. Extend to real-time IoT streams, ERP/maintenance data, OEE monitoring and automated work-order workflows.</a:t>
            </a:r>
            <a:endParaRPr lang="en-US" altLang="en-US" sz="900" b="0" i="0" u="none" strike="noStrike" cap="none">
              <a:solidFill>
                <a:srgbClr val="202729"/>
              </a:solidFill>
              <a:latin typeface="Manrope"/>
              <a:ea typeface="Manrope"/>
              <a:cs typeface="Manrope"/>
              <a:sym typeface="Manrope"/>
            </a:endParaRPr>
          </a:p>
          <a:p>
            <a:pPr marL="601980" marR="0" lvl="0" indent="0" algn="l" rtl="0">
              <a:lnSpc>
                <a:spcPct val="115000"/>
              </a:lnSpc>
              <a:spcBef>
                <a:spcPts val="0"/>
              </a:spcBef>
              <a:spcAft>
                <a:spcPts val="0"/>
              </a:spcAft>
              <a:buClr>
                <a:srgbClr val="202729"/>
              </a:buClr>
              <a:buSzPct val="100000"/>
              <a:buFont typeface="Manrope"/>
              <a:buNone/>
            </a:pPr>
            <a:r>
              <a:rPr lang="en-US" altLang="en-US" sz="900" b="0" i="0" u="none" strike="noStrike" cap="none">
                <a:solidFill>
                  <a:srgbClr val="202729"/>
                </a:solidFill>
                <a:latin typeface="Manrope"/>
                <a:ea typeface="Manrope"/>
                <a:cs typeface="Manrope"/>
                <a:sym typeface="Manrope"/>
              </a:rPr>
              <a:t>2. Include machine/tool specific maintenance records for better action predictions specific to tools/machines.</a:t>
            </a:r>
            <a:endParaRPr lang="en-US" altLang="en-US" sz="900" b="0" i="0" u="none" strike="noStrike" cap="none">
              <a:solidFill>
                <a:srgbClr val="202729"/>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4" name="Shape 84"/>
        <p:cNvGrpSpPr/>
        <p:nvPr/>
      </p:nvGrpSpPr>
      <p:grpSpPr>
        <a:xfrm>
          <a:off x="0" y="0"/>
          <a:ext cx="0" cy="0"/>
          <a:chOff x="0" y="0"/>
          <a:chExt cx="0" cy="0"/>
        </a:xfrm>
      </p:grpSpPr>
      <p:pic>
        <p:nvPicPr>
          <p:cNvPr id="85" name="Google Shape;85;p18" title="timer 1 min cowsswedededexeco cli.png"/>
          <p:cNvPicPr preferRelativeResize="0"/>
          <p:nvPr/>
        </p:nvPicPr>
        <p:blipFill rotWithShape="1">
          <a:blip r:embed="rId1"/>
          <a:srcRect/>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3969</Words>
  <Application>WPS Sheets</Application>
  <PresentationFormat/>
  <Paragraphs>90</Paragraphs>
  <Slides>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SimSun</vt:lpstr>
      <vt:lpstr>Wingdings</vt:lpstr>
      <vt:lpstr>Arial</vt:lpstr>
      <vt:lpstr>Manrope SemiBold</vt:lpstr>
      <vt:lpstr>Manrope</vt:lpstr>
      <vt:lpstr>Microsoft YaHei</vt:lpstr>
      <vt:lpstr>汉仪旗黑</vt:lpstr>
      <vt:lpstr>Arial Unicode MS</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priyam</cp:lastModifiedBy>
  <cp:revision>4</cp:revision>
  <dcterms:created xsi:type="dcterms:W3CDTF">2026-10-06T19:59:21Z</dcterms:created>
  <dcterms:modified xsi:type="dcterms:W3CDTF">2026-10-06T19:59:21Z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CB052DCA961915FDC11CC56AC4F84FBA_43</vt:lpwstr>
  </property>
  <property fmtid="{D5CDD505-2E9C-101B-9397-08002B2CF9AE}" pid="3" name="KSOProductBuildVer">
    <vt:lpwstr>1033-12.1.25880.25880</vt:lpwstr>
  </property>
</Properties>
</file>